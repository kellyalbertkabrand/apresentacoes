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10287000"/>
          </a:xfrm>
          <a:prstGeom prst="rect">
            <a:avLst/>
          </a:prstGeom>
          <a:solidFill>
            <a:srgbClr val="C8B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54480" y="3383280"/>
            <a:ext cx="12801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 i="0">
                <a:solidFill>
                  <a:srgbClr val="000000"/>
                </a:solidFill>
                <a:latin typeface="Outfit"/>
              </a:rPr>
              <a:t>BASE ESTRATÉGICA DA MARCA</a:t>
            </a:r>
          </a:p>
          <a:p>
            <a:r>
              <a:rPr sz="7500" b="1" i="0" spc="100">
                <a:solidFill>
                  <a:srgbClr val="000000"/>
                </a:solidFill>
                <a:latin typeface="Outfit"/>
              </a:rPr>
              <a:t>YUFIL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594360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A1A1A"/>
                </a:solidFill>
                <a:latin typeface="Outfit"/>
              </a:rPr>
              <a:t>Construção estratégica para clareza, consistência e expansão.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86384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 spc="150">
                <a:solidFill>
                  <a:srgbClr val="000000"/>
                </a:solidFill>
                <a:latin typeface="Outfit"/>
              </a:rPr>
              <a:t>MARÇO/2026</a:t>
            </a:r>
          </a:p>
          <a:p>
            <a:r>
              <a:rPr sz="1800" b="0" i="0">
                <a:solidFill>
                  <a:srgbClr val="1A1A1A"/>
                </a:solidFill>
                <a:latin typeface="Outfit"/>
              </a:rPr>
              <a:t>Método Marca com Essência 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54480" y="640080"/>
            <a:ext cx="9144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800" b="1" i="0">
                <a:solidFill>
                  <a:srgbClr val="000000"/>
                </a:solidFill>
                <a:latin typeface="Outfit"/>
              </a:rPr>
              <a:t>SUMÁRIO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37360" y="2743200"/>
            <a:ext cx="1188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300" b="1" i="0">
                <a:solidFill>
                  <a:srgbClr val="1A1A1A"/>
                </a:solidFill>
                <a:latin typeface="Outfit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2852928"/>
            <a:ext cx="6217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 i="0">
                <a:solidFill>
                  <a:srgbClr val="7A7A72"/>
                </a:solidFill>
                <a:latin typeface="Outfit"/>
              </a:rPr>
              <a:t>Leitura do momento da marca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3886200"/>
            <a:ext cx="1188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300" b="1" i="0">
                <a:solidFill>
                  <a:srgbClr val="1A1A1A"/>
                </a:solidFill>
                <a:latin typeface="Outfit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3995928"/>
            <a:ext cx="6217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 i="0">
                <a:solidFill>
                  <a:srgbClr val="7A7A72"/>
                </a:solidFill>
                <a:latin typeface="Outfit"/>
              </a:rPr>
              <a:t>Definição central da marca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5029200"/>
            <a:ext cx="1188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300" b="1" i="0">
                <a:solidFill>
                  <a:srgbClr val="1A1A1A"/>
                </a:solidFill>
                <a:latin typeface="Outfit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5138928"/>
            <a:ext cx="6217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 i="0">
                <a:solidFill>
                  <a:srgbClr val="7A7A72"/>
                </a:solidFill>
                <a:latin typeface="Outfit"/>
              </a:rPr>
              <a:t>Causa, liderança e tribo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6172200"/>
            <a:ext cx="1188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300" b="1" i="0">
                <a:solidFill>
                  <a:srgbClr val="1A1A1A"/>
                </a:solidFill>
                <a:latin typeface="Outfit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6281928"/>
            <a:ext cx="6217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 i="0">
                <a:solidFill>
                  <a:srgbClr val="7A7A72"/>
                </a:solidFill>
                <a:latin typeface="Outfit"/>
              </a:rPr>
              <a:t>Golden Circle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7315200"/>
            <a:ext cx="1188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300" b="1" i="0">
                <a:solidFill>
                  <a:srgbClr val="1A1A1A"/>
                </a:solidFill>
                <a:latin typeface="Outfit"/>
              </a:rPr>
              <a:t>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7424927"/>
            <a:ext cx="6217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 i="0">
                <a:solidFill>
                  <a:srgbClr val="7A7A72"/>
                </a:solidFill>
                <a:latin typeface="Outfit"/>
              </a:rPr>
              <a:t>Proposta de valor e posicionamento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2743200"/>
            <a:ext cx="1188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300" b="1" i="0">
                <a:solidFill>
                  <a:srgbClr val="1A1A1A"/>
                </a:solidFill>
                <a:latin typeface="Outfit"/>
              </a:rPr>
              <a:t>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2852928"/>
            <a:ext cx="6217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 i="0">
                <a:solidFill>
                  <a:srgbClr val="7A7A72"/>
                </a:solidFill>
                <a:latin typeface="Outfit"/>
              </a:rPr>
              <a:t>Arquitetura de marca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3886200"/>
            <a:ext cx="1188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300" b="1" i="0">
                <a:solidFill>
                  <a:srgbClr val="1A1A1A"/>
                </a:solidFill>
                <a:latin typeface="Outfit"/>
              </a:rPr>
              <a:t>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3995928"/>
            <a:ext cx="6217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 i="0">
                <a:solidFill>
                  <a:srgbClr val="7A7A72"/>
                </a:solidFill>
                <a:latin typeface="Outfit"/>
              </a:rPr>
              <a:t>Territórios, pilares e público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5029200"/>
            <a:ext cx="1188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300" b="1" i="0">
                <a:solidFill>
                  <a:srgbClr val="1A1A1A"/>
                </a:solidFill>
                <a:latin typeface="Outfit"/>
              </a:rPr>
              <a:t>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5138928"/>
            <a:ext cx="6217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 i="0">
                <a:solidFill>
                  <a:srgbClr val="7A7A72"/>
                </a:solidFill>
                <a:latin typeface="Outfit"/>
              </a:rPr>
              <a:t>Personalidade e tom de voz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6172200"/>
            <a:ext cx="1188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300" b="1" i="0">
                <a:solidFill>
                  <a:srgbClr val="1A1A1A"/>
                </a:solidFill>
                <a:latin typeface="Outfit"/>
              </a:rPr>
              <a:t>09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281928"/>
            <a:ext cx="6217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 i="0">
                <a:solidFill>
                  <a:srgbClr val="7A7A72"/>
                </a:solidFill>
                <a:latin typeface="Outfit"/>
              </a:rPr>
              <a:t>Manifesto e síntese final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964692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 spc="150">
                <a:solidFill>
                  <a:srgbClr val="000000"/>
                </a:solidFill>
                <a:latin typeface="Outfit"/>
              </a:rPr>
              <a:t>BASE ESTRATÉGICA DA MARCA</a:t>
            </a:r>
            <a:r>
              <a:rPr sz="1300" b="0" i="0">
                <a:solidFill>
                  <a:srgbClr val="000000"/>
                </a:solidFill>
                <a:latin typeface="Outfit"/>
              </a:rPr>
              <a:t>   |   </a:t>
            </a:r>
            <a:r>
              <a:rPr sz="1300" b="1" i="0" spc="150">
                <a:solidFill>
                  <a:srgbClr val="000000"/>
                </a:solidFill>
                <a:latin typeface="Outfit"/>
              </a:rPr>
              <a:t>YUFIL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007840" y="9646920"/>
            <a:ext cx="640080" cy="411480"/>
          </a:xfrm>
          <a:prstGeom prst="roundRect">
            <a:avLst/>
          </a:prstGeom>
          <a:solidFill>
            <a:srgbClr val="C8B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1A1A1A"/>
                </a:solidFill>
                <a:latin typeface="Outfit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430000" y="0"/>
            <a:ext cx="6858000" cy="10287000"/>
          </a:xfrm>
          <a:prstGeom prst="rect">
            <a:avLst/>
          </a:prstGeom>
          <a:solidFill>
            <a:srgbClr val="E8E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54480" y="329184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200" b="1" i="0">
                <a:solidFill>
                  <a:srgbClr val="000000"/>
                </a:solidFill>
                <a:latin typeface="Outfit"/>
              </a:rPr>
              <a:t>O MOMENTO</a:t>
            </a:r>
          </a:p>
          <a:p>
            <a:r>
              <a:rPr sz="9200" b="1" i="0">
                <a:solidFill>
                  <a:srgbClr val="000000"/>
                </a:solidFill>
                <a:latin typeface="Outfit"/>
              </a:rPr>
              <a:t>ATUAL DA</a:t>
            </a:r>
          </a:p>
          <a:p>
            <a:r>
              <a:rPr sz="9200" b="1" i="0">
                <a:solidFill>
                  <a:srgbClr val="000000"/>
                </a:solidFill>
                <a:latin typeface="Outfit"/>
              </a:rPr>
              <a:t>YUFIL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50" b="0" i="0" spc="250">
                <a:solidFill>
                  <a:srgbClr val="7A7A72"/>
                </a:solidFill>
                <a:latin typeface="Outfit"/>
              </a:rPr>
              <a:t>SEÇÃO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4692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 spc="150">
                <a:solidFill>
                  <a:srgbClr val="000000"/>
                </a:solidFill>
                <a:latin typeface="Outfit"/>
              </a:rPr>
              <a:t>BASE ESTRATÉGICA DA MARCA</a:t>
            </a:r>
            <a:r>
              <a:rPr sz="1300" b="0" i="0">
                <a:solidFill>
                  <a:srgbClr val="000000"/>
                </a:solidFill>
                <a:latin typeface="Outfit"/>
              </a:rPr>
              <a:t>   |   </a:t>
            </a:r>
            <a:r>
              <a:rPr sz="1300" b="1" i="0" spc="150">
                <a:solidFill>
                  <a:srgbClr val="000000"/>
                </a:solidFill>
                <a:latin typeface="Outfit"/>
              </a:rPr>
              <a:t>YUFIL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007840" y="9646920"/>
            <a:ext cx="640080" cy="411480"/>
          </a:xfrm>
          <a:prstGeom prst="roundRect">
            <a:avLst/>
          </a:prstGeom>
          <a:solidFill>
            <a:srgbClr val="C8B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1A1A1A"/>
                </a:solidFill>
                <a:latin typeface="Outfit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0" b="1" i="0">
                <a:solidFill>
                  <a:srgbClr val="1A1A1A"/>
                </a:solidFill>
                <a:latin typeface="Outfit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3200400"/>
            <a:ext cx="11887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300" b="0" i="0">
                <a:solidFill>
                  <a:srgbClr val="1A1A1A"/>
                </a:solidFill>
                <a:latin typeface="Outfit"/>
              </a:rPr>
              <a:t>A YUFIL </a:t>
            </a:r>
            <a:r>
              <a:rPr sz="4300" b="1" i="0">
                <a:solidFill>
                  <a:srgbClr val="1A1A1A"/>
                </a:solidFill>
                <a:latin typeface="Outfit"/>
              </a:rPr>
              <a:t>não nasce </a:t>
            </a:r>
            <a:r>
              <a:rPr sz="4300" b="0" i="0">
                <a:solidFill>
                  <a:srgbClr val="1A1A1A"/>
                </a:solidFill>
                <a:latin typeface="Outfit"/>
              </a:rPr>
              <a:t>de uma oportunidade de mercado. Ela nasce do encontro entre </a:t>
            </a:r>
            <a:r>
              <a:rPr sz="4300" b="1" i="0">
                <a:solidFill>
                  <a:srgbClr val="1A1A1A"/>
                </a:solidFill>
                <a:latin typeface="Outfit"/>
              </a:rPr>
              <a:t>duas forças complementares.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6949440"/>
            <a:ext cx="1188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 i="0" spc="200">
                <a:solidFill>
                  <a:srgbClr val="7A7A72"/>
                </a:solidFill>
                <a:latin typeface="Outfit"/>
              </a:rPr>
              <a:t>ESSÊNCIA HUMANA + DIREÇÃO DE PROJETO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4692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 spc="150">
                <a:solidFill>
                  <a:srgbClr val="000000"/>
                </a:solidFill>
                <a:latin typeface="Outfit"/>
              </a:rPr>
              <a:t>BASE ESTRATÉGICA DA MARCA</a:t>
            </a:r>
            <a:r>
              <a:rPr sz="1300" b="0" i="0">
                <a:solidFill>
                  <a:srgbClr val="000000"/>
                </a:solidFill>
                <a:latin typeface="Outfit"/>
              </a:rPr>
              <a:t>   |   </a:t>
            </a:r>
            <a:r>
              <a:rPr sz="1300" b="1" i="0" spc="150">
                <a:solidFill>
                  <a:srgbClr val="000000"/>
                </a:solidFill>
                <a:latin typeface="Outfit"/>
              </a:rPr>
              <a:t>YUFIL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007840" y="9646920"/>
            <a:ext cx="640080" cy="411480"/>
          </a:xfrm>
          <a:prstGeom prst="roundRect">
            <a:avLst/>
          </a:prstGeom>
          <a:solidFill>
            <a:srgbClr val="C8B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1A1A1A"/>
                </a:solidFill>
                <a:latin typeface="Outfit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704320" y="0"/>
            <a:ext cx="6583680" cy="10287000"/>
          </a:xfrm>
          <a:prstGeom prst="rect">
            <a:avLst/>
          </a:prstGeom>
          <a:solidFill>
            <a:srgbClr val="D4D9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50" b="0" i="0" spc="250">
                <a:solidFill>
                  <a:srgbClr val="7A7A72"/>
                </a:solidFill>
                <a:latin typeface="Outfit"/>
              </a:rPr>
              <a:t>ESSÊNCIA DOS FUNDADORES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55448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100" b="1" i="0">
                <a:solidFill>
                  <a:srgbClr val="1A1A1A"/>
                </a:solidFill>
                <a:latin typeface="Outfit"/>
              </a:rPr>
              <a:t>A FORÇA QUE ORIGINA</a:t>
            </a:r>
          </a:p>
          <a:p>
            <a:r>
              <a:rPr sz="5100" b="1" i="0">
                <a:solidFill>
                  <a:srgbClr val="1A1A1A"/>
                </a:solidFill>
                <a:latin typeface="Outfit"/>
              </a:rPr>
              <a:t>E TRANSFORMA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9601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0" i="0">
                <a:solidFill>
                  <a:srgbClr val="7A7A72"/>
                </a:solidFill>
                <a:latin typeface="Outfit"/>
              </a:rPr>
              <a:t>•  37 anos dentro do salão — a técnica que veio da prática.</a:t>
            </a:r>
          </a:p>
          <a:p>
            <a:r>
              <a:rPr sz="2700" b="0" i="0">
                <a:solidFill>
                  <a:srgbClr val="7A7A72"/>
                </a:solidFill>
                <a:latin typeface="Outfit"/>
              </a:rPr>
              <a:t>•  A leitura concreta das dores do cabelo e da rotina.</a:t>
            </a:r>
          </a:p>
          <a:p>
            <a:r>
              <a:rPr sz="2700" b="0" i="0">
                <a:solidFill>
                  <a:srgbClr val="7A7A72"/>
                </a:solidFill>
                <a:latin typeface="Outfit"/>
              </a:rPr>
              <a:t>•  A visão de uma linha técnica para casa.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658368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1">
                <a:solidFill>
                  <a:srgbClr val="1A1A1A"/>
                </a:solidFill>
                <a:latin typeface="Calibri"/>
              </a:rPr>
              <a:t>“A mesma tesoura que tirou a minha visão foi a ferramenta que mudou a minha vida.”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81381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 spc="150">
                <a:solidFill>
                  <a:srgbClr val="1A1A1A"/>
                </a:solidFill>
                <a:latin typeface="Outfit"/>
              </a:rPr>
              <a:t>TÉCNICA  •  INOVAÇÃO  •  ORIGEM  •  AUTORIDADE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964692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 spc="150">
                <a:solidFill>
                  <a:srgbClr val="000000"/>
                </a:solidFill>
                <a:latin typeface="Outfit"/>
              </a:rPr>
              <a:t>BASE ESTRATÉGICA DA MARCA</a:t>
            </a:r>
            <a:r>
              <a:rPr sz="1300" b="0" i="0">
                <a:solidFill>
                  <a:srgbClr val="000000"/>
                </a:solidFill>
                <a:latin typeface="Outfit"/>
              </a:rPr>
              <a:t>   |   </a:t>
            </a:r>
            <a:r>
              <a:rPr sz="1300" b="1" i="0" spc="150">
                <a:solidFill>
                  <a:srgbClr val="000000"/>
                </a:solidFill>
                <a:latin typeface="Outfit"/>
              </a:rPr>
              <a:t>YUFIL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007840" y="9646920"/>
            <a:ext cx="640080" cy="411480"/>
          </a:xfrm>
          <a:prstGeom prst="roundRect">
            <a:avLst/>
          </a:prstGeom>
          <a:solidFill>
            <a:srgbClr val="C8B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1A1A1A"/>
                </a:solidFill>
                <a:latin typeface="Outfit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EDE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41832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50" b="0" i="0" spc="250">
                <a:solidFill>
                  <a:srgbClr val="7A7A72"/>
                </a:solidFill>
                <a:latin typeface="Outfit"/>
              </a:rPr>
              <a:t>LEITURA DO MOMENTO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1920240"/>
            <a:ext cx="7498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100" b="1" i="0">
                <a:solidFill>
                  <a:srgbClr val="1A1A1A"/>
                </a:solidFill>
                <a:latin typeface="Outfit"/>
              </a:rPr>
              <a:t>O INSIGHT DA YUFIL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3291840"/>
            <a:ext cx="749807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3131"/>
                </a:solidFill>
                <a:latin typeface="Outfit"/>
              </a:rPr>
              <a:t>✕  </a:t>
            </a:r>
            <a:r>
              <a:rPr sz="2700" b="0" i="0">
                <a:solidFill>
                  <a:srgbClr val="000000"/>
                </a:solidFill>
                <a:latin typeface="Outfit"/>
              </a:rPr>
              <a:t>cabelos difíceis de tratar</a:t>
            </a:r>
          </a:p>
          <a:p>
            <a:r>
              <a:rPr sz="2700" b="1" i="0">
                <a:solidFill>
                  <a:srgbClr val="FF3131"/>
                </a:solidFill>
                <a:latin typeface="Outfit"/>
              </a:rPr>
              <a:t>✕  </a:t>
            </a:r>
            <a:r>
              <a:rPr sz="2700" b="0" i="0">
                <a:solidFill>
                  <a:srgbClr val="000000"/>
                </a:solidFill>
                <a:latin typeface="Outfit"/>
              </a:rPr>
              <a:t>rotinas cada vez mais complicadas</a:t>
            </a:r>
          </a:p>
          <a:p>
            <a:r>
              <a:rPr sz="2700" b="1" i="0">
                <a:solidFill>
                  <a:srgbClr val="FF3131"/>
                </a:solidFill>
                <a:latin typeface="Outfit"/>
              </a:rPr>
              <a:t>✕  </a:t>
            </a:r>
            <a:r>
              <a:rPr sz="2700" b="0" i="0">
                <a:solidFill>
                  <a:srgbClr val="000000"/>
                </a:solidFill>
                <a:latin typeface="Outfit"/>
              </a:rPr>
              <a:t>excesso de produto sem resultado real</a:t>
            </a:r>
          </a:p>
          <a:p>
            <a:r>
              <a:rPr sz="2700" b="1" i="0">
                <a:solidFill>
                  <a:srgbClr val="FF3131"/>
                </a:solidFill>
                <a:latin typeface="Outfit"/>
              </a:rPr>
              <a:t>✕  </a:t>
            </a:r>
            <a:r>
              <a:rPr sz="2700" b="0" i="0">
                <a:solidFill>
                  <a:srgbClr val="000000"/>
                </a:solidFill>
                <a:latin typeface="Outfit"/>
              </a:rPr>
              <a:t>promessas que não se sustentam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6949440"/>
            <a:ext cx="749807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Outfit"/>
              </a:rPr>
              <a:t>O problema não é a falta de produto. É o </a:t>
            </a:r>
            <a:r>
              <a:rPr sz="3000" b="1" i="0">
                <a:solidFill>
                  <a:srgbClr val="C8BFA8"/>
                </a:solidFill>
                <a:latin typeface="Outfit"/>
              </a:rPr>
              <a:t>excesso no cuidado.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964692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 spc="150">
                <a:solidFill>
                  <a:srgbClr val="000000"/>
                </a:solidFill>
                <a:latin typeface="Outfit"/>
              </a:rPr>
              <a:t>BASE ESTRATÉGICA DA MARCA</a:t>
            </a:r>
            <a:r>
              <a:rPr sz="1300" b="0" i="0">
                <a:solidFill>
                  <a:srgbClr val="000000"/>
                </a:solidFill>
                <a:latin typeface="Outfit"/>
              </a:rPr>
              <a:t>   |   </a:t>
            </a:r>
            <a:r>
              <a:rPr sz="1300" b="1" i="0" spc="150">
                <a:solidFill>
                  <a:srgbClr val="000000"/>
                </a:solidFill>
                <a:latin typeface="Outfit"/>
              </a:rPr>
              <a:t>YUFIL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007840" y="9646920"/>
            <a:ext cx="640080" cy="411480"/>
          </a:xfrm>
          <a:prstGeom prst="roundRect">
            <a:avLst/>
          </a:prstGeom>
          <a:solidFill>
            <a:srgbClr val="C8B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1A1A1A"/>
                </a:solidFill>
                <a:latin typeface="Outfit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03120" y="2194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50" b="0" i="0" spc="250">
                <a:solidFill>
                  <a:srgbClr val="7A7A72"/>
                </a:solidFill>
                <a:latin typeface="Outfit"/>
              </a:rPr>
              <a:t>ESSÊNCIA DA YUFIL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3120" y="2743200"/>
            <a:ext cx="14081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0" b="0" i="0">
                <a:solidFill>
                  <a:srgbClr val="1A1A1A"/>
                </a:solidFill>
                <a:latin typeface="Outfit"/>
              </a:rPr>
              <a:t>CUIDADO REAL </a:t>
            </a:r>
            <a:r>
              <a:rPr sz="10000" b="0" i="0">
                <a:solidFill>
                  <a:srgbClr val="1A1A1A"/>
                </a:solidFill>
                <a:latin typeface="Outfit"/>
              </a:rPr>
              <a:t>PARA A </a:t>
            </a:r>
            <a:r>
              <a:rPr sz="10000" b="1" i="0">
                <a:solidFill>
                  <a:srgbClr val="1A1A1A"/>
                </a:solidFill>
                <a:latin typeface="Outfit"/>
              </a:rPr>
              <a:t>VIDA REAL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6035040"/>
            <a:ext cx="13716000" cy="36576"/>
          </a:xfrm>
          <a:prstGeom prst="rect">
            <a:avLst/>
          </a:prstGeom>
          <a:solidFill>
            <a:srgbClr val="C8B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0" y="6492240"/>
            <a:ext cx="13716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 i="0">
                <a:solidFill>
                  <a:srgbClr val="7A7A72"/>
                </a:solidFill>
                <a:latin typeface="Outfit"/>
              </a:rPr>
              <a:t>A YUFIL nasce da experiência prática de quem vive o cuidado todos os dias.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64692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 spc="150">
                <a:solidFill>
                  <a:srgbClr val="000000"/>
                </a:solidFill>
                <a:latin typeface="Outfit"/>
              </a:rPr>
              <a:t>BASE ESTRATÉGICA DA MARCA</a:t>
            </a:r>
            <a:r>
              <a:rPr sz="1300" b="0" i="0">
                <a:solidFill>
                  <a:srgbClr val="000000"/>
                </a:solidFill>
                <a:latin typeface="Outfit"/>
              </a:rPr>
              <a:t>   |   </a:t>
            </a:r>
            <a:r>
              <a:rPr sz="1300" b="1" i="0" spc="150">
                <a:solidFill>
                  <a:srgbClr val="000000"/>
                </a:solidFill>
                <a:latin typeface="Outfit"/>
              </a:rPr>
              <a:t>YUFIL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007840" y="9646920"/>
            <a:ext cx="640080" cy="411480"/>
          </a:xfrm>
          <a:prstGeom prst="roundRect">
            <a:avLst/>
          </a:prstGeom>
          <a:solidFill>
            <a:srgbClr val="C8B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1A1A1A"/>
                </a:solidFill>
                <a:latin typeface="Outfit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50" b="0" i="0" spc="250">
                <a:solidFill>
                  <a:srgbClr val="7A7A72"/>
                </a:solidFill>
                <a:latin typeface="Outfit"/>
              </a:rPr>
              <a:t>PROPOSTA DE VALOR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463040"/>
            <a:ext cx="1463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900" b="1" i="0">
                <a:solidFill>
                  <a:srgbClr val="1A1A1A"/>
                </a:solidFill>
                <a:latin typeface="Outfit"/>
              </a:rPr>
              <a:t>O QUE A YUFIL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3108960"/>
            <a:ext cx="7498079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37360" y="3383279"/>
            <a:ext cx="676655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 i="0">
                <a:solidFill>
                  <a:srgbClr val="C8BFA8"/>
                </a:solidFill>
                <a:latin typeface="Outfit"/>
              </a:rPr>
              <a:t>01.</a:t>
            </a:r>
          </a:p>
          <a:p>
            <a:r>
              <a:rPr sz="2400" b="1" i="0">
                <a:solidFill>
                  <a:srgbClr val="1A1A1A"/>
                </a:solidFill>
                <a:latin typeface="Outfit"/>
              </a:rPr>
              <a:t>Autoridade técnica</a:t>
            </a:r>
          </a:p>
          <a:p>
            <a:r>
              <a:rPr sz="1800" b="0" i="0">
                <a:solidFill>
                  <a:srgbClr val="7A7A72"/>
                </a:solidFill>
                <a:latin typeface="Outfit"/>
              </a:rPr>
              <a:t>Fórmulas com base em 37 anos de prática real.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9418319" y="3108960"/>
            <a:ext cx="7498079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0" y="3383279"/>
            <a:ext cx="676655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 i="0">
                <a:solidFill>
                  <a:srgbClr val="C8BFA8"/>
                </a:solidFill>
                <a:latin typeface="Outfit"/>
              </a:rPr>
              <a:t>02.</a:t>
            </a:r>
          </a:p>
          <a:p>
            <a:r>
              <a:rPr sz="2400" b="1" i="0">
                <a:solidFill>
                  <a:srgbClr val="1A1A1A"/>
                </a:solidFill>
                <a:latin typeface="Outfit"/>
              </a:rPr>
              <a:t>Formato concentrado</a:t>
            </a:r>
          </a:p>
          <a:p>
            <a:r>
              <a:rPr sz="1800" b="0" i="0">
                <a:solidFill>
                  <a:srgbClr val="7A7A72"/>
                </a:solidFill>
                <a:latin typeface="Outfit"/>
              </a:rPr>
              <a:t>Menos produto, menos volume, menos descarte.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5852160"/>
            <a:ext cx="7498079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6126480"/>
            <a:ext cx="676655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 i="0">
                <a:solidFill>
                  <a:srgbClr val="C8BFA8"/>
                </a:solidFill>
                <a:latin typeface="Outfit"/>
              </a:rPr>
              <a:t>03.</a:t>
            </a:r>
          </a:p>
          <a:p>
            <a:r>
              <a:rPr sz="2400" b="1" i="0">
                <a:solidFill>
                  <a:srgbClr val="1A1A1A"/>
                </a:solidFill>
                <a:latin typeface="Outfit"/>
              </a:rPr>
              <a:t>Experiência que não pesa</a:t>
            </a:r>
          </a:p>
          <a:p>
            <a:r>
              <a:rPr sz="1800" b="0" i="0">
                <a:solidFill>
                  <a:srgbClr val="7A7A72"/>
                </a:solidFill>
                <a:latin typeface="Outfit"/>
              </a:rPr>
              <a:t>Cuidar sem que vire um ritual cansativo.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18319" y="5852160"/>
            <a:ext cx="7498079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0" y="6126480"/>
            <a:ext cx="676655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 i="0">
                <a:solidFill>
                  <a:srgbClr val="C8BFA8"/>
                </a:solidFill>
                <a:latin typeface="Outfit"/>
              </a:rPr>
              <a:t>04.</a:t>
            </a:r>
          </a:p>
          <a:p>
            <a:r>
              <a:rPr sz="2400" b="1" i="0">
                <a:solidFill>
                  <a:srgbClr val="1A1A1A"/>
                </a:solidFill>
                <a:latin typeface="Outfit"/>
              </a:rPr>
              <a:t>Coerência que fideliza</a:t>
            </a:r>
          </a:p>
          <a:p>
            <a:r>
              <a:rPr sz="1800" b="0" i="0">
                <a:solidFill>
                  <a:srgbClr val="7A7A72"/>
                </a:solidFill>
                <a:latin typeface="Outfit"/>
              </a:rPr>
              <a:t>A marca faz o que diz, sem hipérboles.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964692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 spc="150">
                <a:solidFill>
                  <a:srgbClr val="000000"/>
                </a:solidFill>
                <a:latin typeface="Outfit"/>
              </a:rPr>
              <a:t>BASE ESTRATÉGICA DA MARCA</a:t>
            </a:r>
            <a:r>
              <a:rPr sz="1300" b="0" i="0">
                <a:solidFill>
                  <a:srgbClr val="000000"/>
                </a:solidFill>
                <a:latin typeface="Outfit"/>
              </a:rPr>
              <a:t>   |   </a:t>
            </a:r>
            <a:r>
              <a:rPr sz="1300" b="1" i="0" spc="150">
                <a:solidFill>
                  <a:srgbClr val="000000"/>
                </a:solidFill>
                <a:latin typeface="Outfit"/>
              </a:rPr>
              <a:t>YUFIL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007840" y="9646920"/>
            <a:ext cx="640080" cy="411480"/>
          </a:xfrm>
          <a:prstGeom prst="roundRect">
            <a:avLst/>
          </a:prstGeom>
          <a:solidFill>
            <a:srgbClr val="C8B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1A1A1A"/>
                </a:solidFill>
                <a:latin typeface="Outfit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5448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50" b="0" i="0" spc="250">
                <a:solidFill>
                  <a:srgbClr val="7A7A72"/>
                </a:solidFill>
                <a:latin typeface="Outfit"/>
              </a:rPr>
              <a:t>IDENTIDADE DA MARCA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480" y="1463040"/>
            <a:ext cx="1463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900" b="1" i="0">
                <a:solidFill>
                  <a:srgbClr val="1A1A1A"/>
                </a:solidFill>
                <a:latin typeface="Outfit"/>
              </a:rPr>
              <a:t>O QUE A MARCA...</a:t>
            </a:r>
          </a:p>
        </p:txBody>
      </p:sp>
      <p:sp>
        <p:nvSpPr>
          <p:cNvPr id="4" name="Rectangle 3"/>
          <p:cNvSpPr/>
          <p:nvPr/>
        </p:nvSpPr>
        <p:spPr>
          <a:xfrm>
            <a:off x="1554480" y="2926080"/>
            <a:ext cx="7315200" cy="5852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3200400"/>
            <a:ext cx="6583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50" b="1" i="0" spc="150">
                <a:solidFill>
                  <a:srgbClr val="7A7A72"/>
                </a:solidFill>
                <a:latin typeface="Outfit"/>
              </a:rPr>
              <a:t>+ VALORIZA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393192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Outfit"/>
              </a:rPr>
              <a:t>Inovação real de formato</a:t>
            </a:r>
          </a:p>
          <a:p>
            <a:r>
              <a:rPr sz="2200" b="1" i="0">
                <a:solidFill>
                  <a:srgbClr val="1A1A1A"/>
                </a:solidFill>
                <a:latin typeface="Outfit"/>
              </a:rPr>
              <a:t>Clareza e honestidade</a:t>
            </a:r>
          </a:p>
          <a:p>
            <a:r>
              <a:rPr sz="2200" b="1" i="0">
                <a:solidFill>
                  <a:srgbClr val="1A1A1A"/>
                </a:solidFill>
                <a:latin typeface="Outfit"/>
              </a:rPr>
              <a:t>Estética funcional e limpa</a:t>
            </a:r>
          </a:p>
          <a:p>
            <a:r>
              <a:rPr sz="2200" b="1" i="0">
                <a:solidFill>
                  <a:srgbClr val="1A1A1A"/>
                </a:solidFill>
                <a:latin typeface="Outfit"/>
              </a:rPr>
              <a:t>Inteligência na rotina</a:t>
            </a:r>
          </a:p>
          <a:p>
            <a:r>
              <a:rPr sz="2200" b="1" i="0">
                <a:solidFill>
                  <a:srgbClr val="1A1A1A"/>
                </a:solidFill>
                <a:latin typeface="Outfit"/>
              </a:rPr>
              <a:t>Sustentabilidade coerente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0" y="2926080"/>
            <a:ext cx="7315200" cy="5852160"/>
          </a:xfrm>
          <a:prstGeom prst="rect">
            <a:avLst/>
          </a:prstGeom>
          <a:solidFill>
            <a:srgbClr val="D4D9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0" y="3200400"/>
            <a:ext cx="6583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50" b="1" i="0" spc="150">
                <a:solidFill>
                  <a:srgbClr val="7A7A72"/>
                </a:solidFill>
                <a:latin typeface="Outfit"/>
              </a:rPr>
              <a:t>× EVITA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393192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7A7A72"/>
                </a:solidFill>
                <a:latin typeface="Outfit"/>
              </a:rPr>
              <a:t>Mais do mesmo sem diferenciação</a:t>
            </a:r>
          </a:p>
          <a:p>
            <a:r>
              <a:rPr sz="2200" b="0" i="0">
                <a:solidFill>
                  <a:srgbClr val="7A7A72"/>
                </a:solidFill>
                <a:latin typeface="Outfit"/>
              </a:rPr>
              <a:t>Complexidade desnecessária</a:t>
            </a:r>
          </a:p>
          <a:p>
            <a:r>
              <a:rPr sz="2200" b="0" i="0">
                <a:solidFill>
                  <a:srgbClr val="7A7A72"/>
                </a:solidFill>
                <a:latin typeface="Outfit"/>
              </a:rPr>
              <a:t>Excesso de passos e produtos</a:t>
            </a:r>
          </a:p>
          <a:p>
            <a:r>
              <a:rPr sz="2200" b="0" i="0">
                <a:solidFill>
                  <a:srgbClr val="7A7A72"/>
                </a:solidFill>
                <a:latin typeface="Outfit"/>
              </a:rPr>
              <a:t>Promessas milagrosas</a:t>
            </a:r>
          </a:p>
          <a:p>
            <a:r>
              <a:rPr sz="2200" b="0" i="0">
                <a:solidFill>
                  <a:srgbClr val="7A7A72"/>
                </a:solidFill>
                <a:latin typeface="Outfit"/>
              </a:rPr>
              <a:t>Visual 'natureba' sem substância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964692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 spc="150">
                <a:solidFill>
                  <a:srgbClr val="000000"/>
                </a:solidFill>
                <a:latin typeface="Outfit"/>
              </a:rPr>
              <a:t>BASE ESTRATÉGICA DA MARCA</a:t>
            </a:r>
            <a:r>
              <a:rPr sz="1300" b="0" i="0">
                <a:solidFill>
                  <a:srgbClr val="000000"/>
                </a:solidFill>
                <a:latin typeface="Outfit"/>
              </a:rPr>
              <a:t>   |   </a:t>
            </a:r>
            <a:r>
              <a:rPr sz="1300" b="1" i="0" spc="150">
                <a:solidFill>
                  <a:srgbClr val="000000"/>
                </a:solidFill>
                <a:latin typeface="Outfit"/>
              </a:rPr>
              <a:t>YUFIL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007840" y="9646920"/>
            <a:ext cx="640080" cy="411480"/>
          </a:xfrm>
          <a:prstGeom prst="roundRect">
            <a:avLst/>
          </a:prstGeom>
          <a:solidFill>
            <a:srgbClr val="C8B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1A1A1A"/>
                </a:solidFill>
                <a:latin typeface="Outfit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10287000"/>
          </a:xfrm>
          <a:prstGeom prst="rect">
            <a:avLst/>
          </a:prstGeom>
          <a:solidFill>
            <a:srgbClr val="C8B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54480" y="3657600"/>
            <a:ext cx="1463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0" b="0" i="0">
                <a:solidFill>
                  <a:srgbClr val="000000"/>
                </a:solidFill>
                <a:latin typeface="Outfit"/>
              </a:rPr>
              <a:t>MUITO OBRIGADA!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5669280"/>
            <a:ext cx="1280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 i="0">
                <a:solidFill>
                  <a:srgbClr val="1A1A1A"/>
                </a:solidFill>
                <a:latin typeface="Outfit"/>
              </a:rPr>
              <a:t>Aplicando os conteúdos deste documento na prática, você garante uma marca construída com consistência e clareza.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8229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 spc="200">
                <a:solidFill>
                  <a:srgbClr val="7A7A72"/>
                </a:solidFill>
                <a:latin typeface="Outfit"/>
              </a:rPr>
              <a:t>KA · INTELIGÊNCIA PARA MARCAS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