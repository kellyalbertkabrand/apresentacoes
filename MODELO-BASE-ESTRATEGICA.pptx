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292608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6192" y="3593592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0" b="1" i="0">
                <a:solidFill>
                  <a:srgbClr val="000000"/>
                </a:solidFill>
                <a:latin typeface="Outfit"/>
              </a:rPr>
              <a:t>BASE ESTRATÉGICA DA MARCA</a:t>
            </a:r>
          </a:p>
          <a:p>
            <a:r>
              <a:rPr sz="7500" b="1" i="0" spc="10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4" name="Picture 3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1208" y="3776472"/>
            <a:ext cx="1490472" cy="1773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6192" y="5824728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Construção estratégica para </a:t>
            </a:r>
            <a:r>
              <a:rPr sz="3000" b="1" i="0">
                <a:solidFill>
                  <a:srgbClr val="1A1A1A"/>
                </a:solidFill>
                <a:latin typeface="Outfit"/>
              </a:rPr>
              <a:t>clareza, consistência e expansão.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77906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0" i="0" spc="150">
                <a:solidFill>
                  <a:srgbClr val="000000"/>
                </a:solidFill>
                <a:latin typeface="Outfit"/>
              </a:rPr>
              <a:t>MARÇO/2026</a:t>
            </a:r>
          </a:p>
          <a:p>
            <a:r>
              <a:rPr sz="2650" b="0" i="0">
                <a:solidFill>
                  <a:srgbClr val="1A1A1A"/>
                </a:solidFill>
                <a:latin typeface="Outfit"/>
              </a:rPr>
              <a:t>Método </a:t>
            </a:r>
            <a:r>
              <a:rPr sz="2650" b="1" i="0">
                <a:solidFill>
                  <a:srgbClr val="1A1A1A"/>
                </a:solidFill>
                <a:latin typeface="Outfit"/>
              </a:rPr>
              <a:t>Marca com Essência </a:t>
            </a:r>
            <a:r>
              <a:rPr sz="1500" b="1" i="0">
                <a:solidFill>
                  <a:srgbClr val="1A1A1A"/>
                </a:solidFill>
                <a:latin typeface="Playfair Display"/>
              </a:rPr>
              <a:t>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37360" y="822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0" b="1" i="0">
                <a:solidFill>
                  <a:srgbClr val="000000"/>
                </a:solidFill>
                <a:latin typeface="Outfit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239572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39" y="2560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Leitura do momento da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5643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39" y="3621024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Definição central da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17136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468172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Causa, liderança e tribo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55778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5742431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Golden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638544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6803136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Proposta de valor e posicionamento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1784" y="239572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27663" y="2560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Arquitetura de marca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84" y="3520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7663" y="368503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Territórios, pilares e público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1784" y="46451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27663" y="4809744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Personalidade e tom de voz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1784" y="59893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7663" y="615391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Manifesto e síntese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22" name="Picture 21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13432" y="3941063"/>
            <a:ext cx="1495044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O MOMENTO ATUAL DA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5" name="Picture 4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188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0" b="1" i="0">
                <a:solidFill>
                  <a:srgbClr val="1A1A1A"/>
                </a:solidFill>
                <a:latin typeface="Outfi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320040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0" i="0">
                <a:solidFill>
                  <a:srgbClr val="1A1A1A"/>
                </a:solidFill>
                <a:latin typeface="Outfit"/>
              </a:rPr>
              <a:t>A YUFIL </a:t>
            </a:r>
            <a:r>
              <a:rPr sz="4300" b="1" i="0">
                <a:solidFill>
                  <a:srgbClr val="1A1A1A"/>
                </a:solidFill>
                <a:latin typeface="Outfit"/>
              </a:rPr>
              <a:t>não nasce </a:t>
            </a:r>
            <a:r>
              <a:rPr sz="4300" b="0" i="0">
                <a:solidFill>
                  <a:srgbClr val="1A1A1A"/>
                </a:solidFill>
                <a:latin typeface="Outfit"/>
              </a:rPr>
              <a:t>de uma oportunidade de mercado. Ela nasce do encontro entre </a:t>
            </a:r>
            <a:r>
              <a:rPr sz="4300" b="1" i="0">
                <a:solidFill>
                  <a:srgbClr val="1A1A1A"/>
                </a:solidFill>
                <a:latin typeface="Outfit"/>
              </a:rPr>
              <a:t>duas forças complementares.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9494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200">
                <a:solidFill>
                  <a:srgbClr val="7A7A72"/>
                </a:solidFill>
                <a:latin typeface="Outfit"/>
              </a:rPr>
              <a:t>ESSÊNCIA HUMANA + DIREÇÃO DE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6" name="Picture 5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04320" y="0"/>
            <a:ext cx="658368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ESSÊNCIA DOS FUNDADORES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A FORÇA QUE ORIGINA</a:t>
            </a:r>
          </a:p>
          <a:p>
            <a:r>
              <a:rPr sz="5100" b="1" i="0">
                <a:solidFill>
                  <a:srgbClr val="1A1A1A"/>
                </a:solidFill>
                <a:latin typeface="Outfit"/>
              </a:rPr>
              <a:t>E TRANSFORMA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•  37 anos dentro do salão — a técnica que veio da prática.</a:t>
            </a:r>
          </a:p>
          <a:p>
            <a:r>
              <a:rPr sz="2700" b="0" i="0">
                <a:solidFill>
                  <a:srgbClr val="7A7A72"/>
                </a:solidFill>
                <a:latin typeface="Outfit"/>
              </a:rPr>
              <a:t>•  A leitura concreta das dores do cabelo e da rotina.</a:t>
            </a:r>
          </a:p>
          <a:p>
            <a:r>
              <a:rPr sz="2700" b="0" i="0">
                <a:solidFill>
                  <a:srgbClr val="7A7A72"/>
                </a:solidFill>
                <a:latin typeface="Outfit"/>
              </a:rPr>
              <a:t>•  A visão de uma linha técnica para casa.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583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1">
                <a:solidFill>
                  <a:srgbClr val="1A1A1A"/>
                </a:solidFill>
                <a:latin typeface="Calibri"/>
              </a:rPr>
              <a:t>“A mesma tesoura que tirou a minha visão foi a ferramenta que mudou a minha vida.”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138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spc="150">
                <a:solidFill>
                  <a:srgbClr val="1A1A1A"/>
                </a:solidFill>
                <a:latin typeface="Outfit"/>
              </a:rPr>
              <a:t>TÉCNICA  •  INOVAÇÃO  •  ORIGEM  •  AUTORIDADE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LEITURA DO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9202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O INSIGHT DA YUFIL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918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cabelos difíceis de tratar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rotinas cada vez mais complicadas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excesso de produto sem resultado real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promessas que não se sustentam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94944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Outfit"/>
              </a:rPr>
              <a:t>O problema não é a falta de produto. É o </a:t>
            </a:r>
            <a:r>
              <a:rPr sz="3000" b="1" i="0">
                <a:solidFill>
                  <a:srgbClr val="C8BFA8"/>
                </a:solidFill>
                <a:latin typeface="Outfit"/>
              </a:rPr>
              <a:t>excesso no cuidado.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8" name="Picture 7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ESSÊNCIA DA YUFIL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743200"/>
            <a:ext cx="1408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1A1A1A"/>
                </a:solidFill>
                <a:latin typeface="Outfit"/>
              </a:rPr>
              <a:t>CUIDADO REAL </a:t>
            </a:r>
            <a:r>
              <a:rPr sz="10000" b="0" i="0">
                <a:solidFill>
                  <a:srgbClr val="1A1A1A"/>
                </a:solidFill>
                <a:latin typeface="Outfit"/>
              </a:rPr>
              <a:t>PARA A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VIDA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603504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6492240"/>
            <a:ext cx="1371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A YUFIL nasce da experiência prática de quem vive o cuidado todos os dias.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7" name="Picture 6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QUE A YUFIL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3383279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Autoridade técnica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Fórmulas com base em 37 anos de prática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1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3383279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Formato concentrado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Menos produto, menos volume, menos descarte.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6126480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Experiência que não pesa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Cuidar sem que vire um ritual cansativo.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1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6126480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Coerência que fideliza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marca faz o que diz, sem hipérboles.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13" name="Picture 12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IDENTIDADE DA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QUE A MARCA...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VALORIZA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Inovação real de formato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Clareza e honestidade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Estética funcional e limpa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Inteligência na rotina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Sustentabilidade coerente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EVITA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Mais do mesmo sem diferenciação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Complexidade desnecessária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Excesso de passos e produtos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Promessas milagrosas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Visual 'natureba' sem substância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spc="150">
                <a:solidFill>
                  <a:srgbClr val="000000"/>
                </a:solidFill>
                <a:latin typeface="Outfit"/>
              </a:rPr>
              <a:t>BASE ESTRATÉGICA DA MARCA</a:t>
            </a:r>
            <a:r>
              <a:rPr sz="1300" b="0" i="0">
                <a:solidFill>
                  <a:srgbClr val="000000"/>
                </a:solidFill>
                <a:latin typeface="Outfit"/>
              </a:rPr>
              <a:t>   |   </a:t>
            </a:r>
            <a:r>
              <a:rPr sz="1300" b="1" i="0" spc="15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11" name="Picture 10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0" y="9464040"/>
            <a:ext cx="17373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0" b="0" i="0">
                <a:solidFill>
                  <a:srgbClr val="000000"/>
                </a:solidFill>
                <a:latin typeface="Outfit"/>
              </a:rPr>
              <a:t>MUITO OBRIGADA!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669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Aplicando os conteúdos deste documento na prática, você garante uma marca construída com consistência e clareza.</a:t>
            </a:r>
          </a:p>
        </p:txBody>
      </p:sp>
      <p:pic>
        <p:nvPicPr>
          <p:cNvPr id="4" name="Picture 3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8046720"/>
            <a:ext cx="292608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